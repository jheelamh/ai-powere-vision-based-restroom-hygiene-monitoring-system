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Nunito Semi Bold" panose="020B0604020202020204" charset="0"/>
      <p:regular r:id="rId11"/>
    </p:embeddedFont>
    <p:embeddedFont>
      <p:font typeface="PT Sans" panose="020B0503020203020204" pitchFamily="3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7807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0314" y="845344"/>
            <a:ext cx="7476173" cy="2102406"/>
          </a:xfrm>
          <a:prstGeom prst="rect">
            <a:avLst/>
          </a:prstGeom>
          <a:noFill/>
          <a:ln/>
        </p:spPr>
        <p:txBody>
          <a:bodyPr wrap="square" lIns="0" tIns="0" rIns="0" bIns="0" rtlCol="0" anchor="t"/>
          <a:lstStyle/>
          <a:p>
            <a:pPr marL="0" indent="0" algn="l">
              <a:lnSpc>
                <a:spcPts val="5500"/>
              </a:lnSpc>
              <a:buNone/>
            </a:pPr>
            <a:r>
              <a:rPr lang="en-US" sz="4400" dirty="0">
                <a:solidFill>
                  <a:srgbClr val="00002E"/>
                </a:solidFill>
                <a:latin typeface="Nunito Semi Bold" pitchFamily="34" charset="0"/>
                <a:ea typeface="Nunito Semi Bold" pitchFamily="34" charset="-122"/>
                <a:cs typeface="Nunito Semi Bold" pitchFamily="34" charset="-120"/>
              </a:rPr>
              <a:t>AI-Powered Vision System for Monitoring Public Hygiene</a:t>
            </a:r>
            <a:endParaRPr lang="en-US" sz="4400" dirty="0"/>
          </a:p>
        </p:txBody>
      </p:sp>
      <p:sp>
        <p:nvSpPr>
          <p:cNvPr id="4" name="Text 1"/>
          <p:cNvSpPr/>
          <p:nvPr/>
        </p:nvSpPr>
        <p:spPr>
          <a:xfrm>
            <a:off x="6320314" y="3305056"/>
            <a:ext cx="7476173" cy="2286714"/>
          </a:xfrm>
          <a:prstGeom prst="rect">
            <a:avLst/>
          </a:prstGeom>
          <a:noFill/>
          <a:ln/>
        </p:spPr>
        <p:txBody>
          <a:bodyPr wrap="squar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This paper proposes an AI-powered vision-based monitoring system leveraging the Common Objects in Bathroom (COB) dataset to detect and assess cleanliness levels in public restrooms. The system uses YOLOv8 for robust identification of sanitary fixtures and hygiene-related indicators. A hygiene score is computed using weighted heuristics derived from object presence, spatial relationships, and temporal consistency.</a:t>
            </a:r>
            <a:endParaRPr lang="en-US" sz="1850" dirty="0"/>
          </a:p>
        </p:txBody>
      </p:sp>
      <p:sp>
        <p:nvSpPr>
          <p:cNvPr id="5" name="Text 2"/>
          <p:cNvSpPr/>
          <p:nvPr/>
        </p:nvSpPr>
        <p:spPr>
          <a:xfrm>
            <a:off x="6320314" y="5859780"/>
            <a:ext cx="7476173" cy="1524476"/>
          </a:xfrm>
          <a:prstGeom prst="rect">
            <a:avLst/>
          </a:prstGeom>
          <a:noFill/>
          <a:ln/>
        </p:spPr>
        <p:txBody>
          <a:bodyPr wrap="squar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Results indicate a high degree of accuracy in identifying cleanliness violations, with an mAP of 0.81 and real-time detection capabilities on edge devices. The system demonstrates potential for integration in smart city infrastructures for autonomous hygiene auditing.</a:t>
            </a:r>
            <a:endParaRPr lang="en-US" sz="1850" dirty="0"/>
          </a:p>
        </p:txBody>
      </p:sp>
      <p:pic>
        <p:nvPicPr>
          <p:cNvPr id="7" name="Picture 6">
            <a:extLst>
              <a:ext uri="{FF2B5EF4-FFF2-40B4-BE49-F238E27FC236}">
                <a16:creationId xmlns:a16="http://schemas.microsoft.com/office/drawing/2014/main" id="{EC9C6BEC-63BC-EB82-6546-B94166E4FC0A}"/>
              </a:ext>
            </a:extLst>
          </p:cNvPr>
          <p:cNvPicPr>
            <a:picLocks noChangeAspect="1"/>
          </p:cNvPicPr>
          <p:nvPr/>
        </p:nvPicPr>
        <p:blipFill>
          <a:blip r:embed="rId4"/>
          <a:stretch>
            <a:fillRect/>
          </a:stretch>
        </p:blipFill>
        <p:spPr>
          <a:xfrm>
            <a:off x="12858889" y="7604706"/>
            <a:ext cx="1648848" cy="62489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27829" y="903089"/>
            <a:ext cx="7688342" cy="1223248"/>
          </a:xfrm>
          <a:prstGeom prst="rect">
            <a:avLst/>
          </a:prstGeom>
          <a:noFill/>
          <a:ln/>
        </p:spPr>
        <p:txBody>
          <a:bodyPr wrap="square" lIns="0" tIns="0" rIns="0" bIns="0" rtlCol="0" anchor="t"/>
          <a:lstStyle/>
          <a:p>
            <a:pPr marL="0" indent="0" algn="l">
              <a:lnSpc>
                <a:spcPts val="4800"/>
              </a:lnSpc>
              <a:buNone/>
            </a:pPr>
            <a:r>
              <a:rPr lang="en-US" sz="3850" dirty="0">
                <a:solidFill>
                  <a:srgbClr val="00002E"/>
                </a:solidFill>
                <a:latin typeface="Nunito Semi Bold" pitchFamily="34" charset="0"/>
                <a:ea typeface="Nunito Semi Bold" pitchFamily="34" charset="-122"/>
                <a:cs typeface="Nunito Semi Bold" pitchFamily="34" charset="-120"/>
              </a:rPr>
              <a:t>Introduction: The Need for Smart Hygiene Monitoring</a:t>
            </a:r>
            <a:endParaRPr lang="en-US" sz="3850" dirty="0"/>
          </a:p>
        </p:txBody>
      </p:sp>
      <p:sp>
        <p:nvSpPr>
          <p:cNvPr id="4" name="Shape 1"/>
          <p:cNvSpPr/>
          <p:nvPr/>
        </p:nvSpPr>
        <p:spPr>
          <a:xfrm>
            <a:off x="727829" y="2438281"/>
            <a:ext cx="3740229" cy="1890355"/>
          </a:xfrm>
          <a:prstGeom prst="roundRect">
            <a:avLst>
              <a:gd name="adj" fmla="val 16503"/>
            </a:avLst>
          </a:prstGeom>
          <a:solidFill>
            <a:srgbClr val="F3F3FF"/>
          </a:solidFill>
          <a:ln w="22860">
            <a:solidFill>
              <a:srgbClr val="2D4DF2"/>
            </a:solidFill>
            <a:prstDash val="solid"/>
          </a:ln>
        </p:spPr>
      </p:sp>
      <p:sp>
        <p:nvSpPr>
          <p:cNvPr id="5" name="Text 2"/>
          <p:cNvSpPr/>
          <p:nvPr/>
        </p:nvSpPr>
        <p:spPr>
          <a:xfrm>
            <a:off x="958572" y="2669024"/>
            <a:ext cx="2446734" cy="305753"/>
          </a:xfrm>
          <a:prstGeom prst="rect">
            <a:avLst/>
          </a:prstGeom>
          <a:noFill/>
          <a:ln/>
        </p:spPr>
        <p:txBody>
          <a:bodyPr wrap="none" lIns="0" tIns="0" rIns="0" bIns="0" rtlCol="0" anchor="t"/>
          <a:lstStyle/>
          <a:p>
            <a:pPr marL="0" indent="0" algn="l">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Public Health</a:t>
            </a:r>
            <a:endParaRPr lang="en-US" sz="1900" dirty="0"/>
          </a:p>
        </p:txBody>
      </p:sp>
      <p:sp>
        <p:nvSpPr>
          <p:cNvPr id="6" name="Text 3"/>
          <p:cNvSpPr/>
          <p:nvPr/>
        </p:nvSpPr>
        <p:spPr>
          <a:xfrm>
            <a:off x="958572" y="3099554"/>
            <a:ext cx="3278743" cy="998339"/>
          </a:xfrm>
          <a:prstGeom prst="rect">
            <a:avLst/>
          </a:prstGeom>
          <a:noFill/>
          <a:ln/>
        </p:spPr>
        <p:txBody>
          <a:bodyPr wrap="squar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Maintaining hygienic conditions in public restrooms is crucial for public health and user satisfaction.</a:t>
            </a:r>
            <a:endParaRPr lang="en-US" sz="1600" dirty="0"/>
          </a:p>
        </p:txBody>
      </p:sp>
      <p:sp>
        <p:nvSpPr>
          <p:cNvPr id="7" name="Shape 4"/>
          <p:cNvSpPr/>
          <p:nvPr/>
        </p:nvSpPr>
        <p:spPr>
          <a:xfrm>
            <a:off x="4675942" y="2438281"/>
            <a:ext cx="3740229" cy="1890355"/>
          </a:xfrm>
          <a:prstGeom prst="roundRect">
            <a:avLst>
              <a:gd name="adj" fmla="val 16503"/>
            </a:avLst>
          </a:prstGeom>
          <a:solidFill>
            <a:srgbClr val="F3F3FF"/>
          </a:solidFill>
          <a:ln w="22860">
            <a:solidFill>
              <a:srgbClr val="018CE1"/>
            </a:solidFill>
            <a:prstDash val="solid"/>
          </a:ln>
        </p:spPr>
      </p:sp>
      <p:sp>
        <p:nvSpPr>
          <p:cNvPr id="8" name="Text 5"/>
          <p:cNvSpPr/>
          <p:nvPr/>
        </p:nvSpPr>
        <p:spPr>
          <a:xfrm>
            <a:off x="4906685" y="2669024"/>
            <a:ext cx="2446734" cy="305753"/>
          </a:xfrm>
          <a:prstGeom prst="rect">
            <a:avLst/>
          </a:prstGeom>
          <a:noFill/>
          <a:ln/>
        </p:spPr>
        <p:txBody>
          <a:bodyPr wrap="none" lIns="0" tIns="0" rIns="0" bIns="0" rtlCol="0" anchor="t"/>
          <a:lstStyle/>
          <a:p>
            <a:pPr marL="0" indent="0" algn="l">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Manual Limitations</a:t>
            </a:r>
            <a:endParaRPr lang="en-US" sz="1900" dirty="0"/>
          </a:p>
        </p:txBody>
      </p:sp>
      <p:sp>
        <p:nvSpPr>
          <p:cNvPr id="9" name="Text 6"/>
          <p:cNvSpPr/>
          <p:nvPr/>
        </p:nvSpPr>
        <p:spPr>
          <a:xfrm>
            <a:off x="4906685" y="3099554"/>
            <a:ext cx="3278743" cy="998339"/>
          </a:xfrm>
          <a:prstGeom prst="rect">
            <a:avLst/>
          </a:prstGeom>
          <a:noFill/>
          <a:ln/>
        </p:spPr>
        <p:txBody>
          <a:bodyPr wrap="squar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Traditional manual inspections are inconsistent, labor-intensive, and subject to oversight.</a:t>
            </a:r>
            <a:endParaRPr lang="en-US" sz="1600" dirty="0"/>
          </a:p>
        </p:txBody>
      </p:sp>
      <p:sp>
        <p:nvSpPr>
          <p:cNvPr id="10" name="Shape 7"/>
          <p:cNvSpPr/>
          <p:nvPr/>
        </p:nvSpPr>
        <p:spPr>
          <a:xfrm>
            <a:off x="727829" y="4536519"/>
            <a:ext cx="7688342" cy="1557576"/>
          </a:xfrm>
          <a:prstGeom prst="roundRect">
            <a:avLst>
              <a:gd name="adj" fmla="val 20029"/>
            </a:avLst>
          </a:prstGeom>
          <a:solidFill>
            <a:srgbClr val="F3F3FF"/>
          </a:solidFill>
          <a:ln w="22860">
            <a:solidFill>
              <a:srgbClr val="DA33BF"/>
            </a:solidFill>
            <a:prstDash val="solid"/>
          </a:ln>
        </p:spPr>
      </p:sp>
      <p:sp>
        <p:nvSpPr>
          <p:cNvPr id="11" name="Text 8"/>
          <p:cNvSpPr/>
          <p:nvPr/>
        </p:nvSpPr>
        <p:spPr>
          <a:xfrm>
            <a:off x="958572" y="4767263"/>
            <a:ext cx="2446734" cy="305753"/>
          </a:xfrm>
          <a:prstGeom prst="rect">
            <a:avLst/>
          </a:prstGeom>
          <a:noFill/>
          <a:ln/>
        </p:spPr>
        <p:txBody>
          <a:bodyPr wrap="none" lIns="0" tIns="0" rIns="0" bIns="0" rtlCol="0" anchor="t"/>
          <a:lstStyle/>
          <a:p>
            <a:pPr marL="0" indent="0" algn="l">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Smart Infrastructure</a:t>
            </a:r>
            <a:endParaRPr lang="en-US" sz="1900" dirty="0"/>
          </a:p>
        </p:txBody>
      </p:sp>
      <p:sp>
        <p:nvSpPr>
          <p:cNvPr id="12" name="Text 9"/>
          <p:cNvSpPr/>
          <p:nvPr/>
        </p:nvSpPr>
        <p:spPr>
          <a:xfrm>
            <a:off x="958572" y="5197793"/>
            <a:ext cx="7226856" cy="665559"/>
          </a:xfrm>
          <a:prstGeom prst="rect">
            <a:avLst/>
          </a:prstGeom>
          <a:noFill/>
          <a:ln/>
        </p:spPr>
        <p:txBody>
          <a:bodyPr wrap="squar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There is an increasing need for intelligent systems capable of autonomously evaluating sanitation levels.</a:t>
            </a:r>
            <a:endParaRPr lang="en-US" sz="1600" dirty="0"/>
          </a:p>
        </p:txBody>
      </p:sp>
      <p:sp>
        <p:nvSpPr>
          <p:cNvPr id="13" name="Text 10"/>
          <p:cNvSpPr/>
          <p:nvPr/>
        </p:nvSpPr>
        <p:spPr>
          <a:xfrm>
            <a:off x="727829" y="6328053"/>
            <a:ext cx="7688342" cy="998339"/>
          </a:xfrm>
          <a:prstGeom prst="rect">
            <a:avLst/>
          </a:prstGeom>
          <a:noFill/>
          <a:ln/>
        </p:spPr>
        <p:txBody>
          <a:bodyPr wrap="squar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Computer vision presents a promising alternative for monitoring public hygiene. This work investigates the application of an AI-powered vision system using the Common Objects in Bathroom (COB) dataset for automated restroom cleanliness assessment.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1616154"/>
            <a:ext cx="12954952" cy="1408033"/>
          </a:xfrm>
          <a:prstGeom prst="rect">
            <a:avLst/>
          </a:prstGeom>
          <a:noFill/>
          <a:ln/>
        </p:spPr>
        <p:txBody>
          <a:bodyPr wrap="square" lIns="0" tIns="0" rIns="0" bIns="0" rtlCol="0" anchor="t"/>
          <a:lstStyle/>
          <a:p>
            <a:pPr marL="0" indent="0" algn="l">
              <a:lnSpc>
                <a:spcPts val="5500"/>
              </a:lnSpc>
              <a:buNone/>
            </a:pPr>
            <a:r>
              <a:rPr lang="en-US" sz="4400" dirty="0">
                <a:solidFill>
                  <a:srgbClr val="00002E"/>
                </a:solidFill>
                <a:latin typeface="Nunito Semi Bold" pitchFamily="34" charset="0"/>
                <a:ea typeface="Nunito Semi Bold" pitchFamily="34" charset="-122"/>
                <a:cs typeface="Nunito Semi Bold" pitchFamily="34" charset="-120"/>
              </a:rPr>
              <a:t>Related Work: Integrating AI into Hygiene Monitoring</a:t>
            </a:r>
            <a:endParaRPr lang="en-US" sz="4400" dirty="0"/>
          </a:p>
        </p:txBody>
      </p:sp>
      <p:sp>
        <p:nvSpPr>
          <p:cNvPr id="3" name="Text 1"/>
          <p:cNvSpPr/>
          <p:nvPr/>
        </p:nvSpPr>
        <p:spPr>
          <a:xfrm>
            <a:off x="837724" y="362247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IoT-Based Solutions</a:t>
            </a:r>
            <a:endParaRPr lang="en-US" sz="2200" dirty="0"/>
          </a:p>
        </p:txBody>
      </p:sp>
      <p:sp>
        <p:nvSpPr>
          <p:cNvPr id="4" name="Text 2"/>
          <p:cNvSpPr/>
          <p:nvPr/>
        </p:nvSpPr>
        <p:spPr>
          <a:xfrm>
            <a:off x="837724" y="4213741"/>
            <a:ext cx="6185535" cy="1149072"/>
          </a:xfrm>
          <a:prstGeom prst="rect">
            <a:avLst/>
          </a:prstGeom>
          <a:noFill/>
          <a:ln/>
        </p:spPr>
        <p:txBody>
          <a:bodyPr wrap="squar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Early works focused on IoT-based solutions, involving sensors to detect foot traffic and soap usage. These approaches lack visual context.</a:t>
            </a:r>
            <a:endParaRPr lang="en-US" sz="1850" dirty="0"/>
          </a:p>
        </p:txBody>
      </p:sp>
      <p:sp>
        <p:nvSpPr>
          <p:cNvPr id="5" name="Text 3"/>
          <p:cNvSpPr/>
          <p:nvPr/>
        </p:nvSpPr>
        <p:spPr>
          <a:xfrm>
            <a:off x="7614761" y="3622477"/>
            <a:ext cx="3188256" cy="351949"/>
          </a:xfrm>
          <a:prstGeom prst="rect">
            <a:avLst/>
          </a:prstGeom>
          <a:noFill/>
          <a:ln/>
        </p:spPr>
        <p:txBody>
          <a:bodyPr wrap="none" lIns="0" tIns="0" rIns="0" bIns="0" rtlCol="0" anchor="t"/>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Vision-Based Monitoring</a:t>
            </a:r>
            <a:endParaRPr lang="en-US" sz="2200" dirty="0"/>
          </a:p>
        </p:txBody>
      </p:sp>
      <p:sp>
        <p:nvSpPr>
          <p:cNvPr id="6" name="Text 4"/>
          <p:cNvSpPr/>
          <p:nvPr/>
        </p:nvSpPr>
        <p:spPr>
          <a:xfrm>
            <a:off x="7614761" y="4213741"/>
            <a:ext cx="6185535" cy="1149072"/>
          </a:xfrm>
          <a:prstGeom prst="rect">
            <a:avLst/>
          </a:prstGeom>
          <a:noFill/>
          <a:ln/>
        </p:spPr>
        <p:txBody>
          <a:bodyPr wrap="squar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Recent research explores vision-based monitoring for sanitation in public environments. Restroom-specific monitoring remains underexplored due to privacy concerns.</a:t>
            </a:r>
            <a:endParaRPr lang="en-US" sz="1850" dirty="0"/>
          </a:p>
        </p:txBody>
      </p:sp>
      <p:sp>
        <p:nvSpPr>
          <p:cNvPr id="7" name="Text 5"/>
          <p:cNvSpPr/>
          <p:nvPr/>
        </p:nvSpPr>
        <p:spPr>
          <a:xfrm>
            <a:off x="837724" y="5847398"/>
            <a:ext cx="12954952" cy="766048"/>
          </a:xfrm>
          <a:prstGeom prst="rect">
            <a:avLst/>
          </a:prstGeom>
          <a:noFill/>
          <a:ln/>
        </p:spPr>
        <p:txBody>
          <a:bodyPr wrap="squar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Our contribution lies in applying high-precision object detection models (YOLOv8) to hygiene-centric interpretations, extending the COB dataset with custom cleanliness annotations, and evaluating system performance for real-world feasibility.</a:t>
            </a:r>
            <a:endParaRPr lang="en-US" sz="1850" dirty="0"/>
          </a:p>
        </p:txBody>
      </p:sp>
      <p:pic>
        <p:nvPicPr>
          <p:cNvPr id="8" name="Picture 7">
            <a:extLst>
              <a:ext uri="{FF2B5EF4-FFF2-40B4-BE49-F238E27FC236}">
                <a16:creationId xmlns:a16="http://schemas.microsoft.com/office/drawing/2014/main" id="{DB7E436A-815D-6D09-0DED-06E116A6985F}"/>
              </a:ext>
            </a:extLst>
          </p:cNvPr>
          <p:cNvPicPr>
            <a:picLocks noChangeAspect="1"/>
          </p:cNvPicPr>
          <p:nvPr/>
        </p:nvPicPr>
        <p:blipFill>
          <a:blip r:embed="rId3"/>
          <a:stretch>
            <a:fillRect/>
          </a:stretch>
        </p:blipFill>
        <p:spPr>
          <a:xfrm>
            <a:off x="12856466" y="7558082"/>
            <a:ext cx="1652159" cy="62794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03037" y="779621"/>
            <a:ext cx="7710726" cy="1204436"/>
          </a:xfrm>
          <a:prstGeom prst="rect">
            <a:avLst/>
          </a:prstGeom>
          <a:noFill/>
          <a:ln/>
        </p:spPr>
        <p:txBody>
          <a:bodyPr wrap="square" lIns="0" tIns="0" rIns="0" bIns="0" rtlCol="0" anchor="t"/>
          <a:lstStyle/>
          <a:p>
            <a:pPr marL="0" indent="0" algn="l">
              <a:lnSpc>
                <a:spcPts val="4700"/>
              </a:lnSpc>
              <a:buNone/>
            </a:pPr>
            <a:r>
              <a:rPr lang="en-US" sz="3750" dirty="0">
                <a:solidFill>
                  <a:srgbClr val="00002E"/>
                </a:solidFill>
                <a:latin typeface="Nunito Semi Bold" pitchFamily="34" charset="0"/>
                <a:ea typeface="Nunito Semi Bold" pitchFamily="34" charset="-122"/>
                <a:cs typeface="Nunito Semi Bold" pitchFamily="34" charset="-120"/>
              </a:rPr>
              <a:t>Proposed Methodology: System Architecture Overview</a:t>
            </a:r>
            <a:endParaRPr lang="en-US" sz="3750" dirty="0"/>
          </a:p>
        </p:txBody>
      </p:sp>
      <p:pic>
        <p:nvPicPr>
          <p:cNvPr id="4" name="Image 1" descr="preencoded.png"/>
          <p:cNvPicPr>
            <a:picLocks noChangeAspect="1"/>
          </p:cNvPicPr>
          <p:nvPr/>
        </p:nvPicPr>
        <p:blipFill>
          <a:blip r:embed="rId4"/>
          <a:stretch>
            <a:fillRect/>
          </a:stretch>
        </p:blipFill>
        <p:spPr>
          <a:xfrm>
            <a:off x="6203037" y="2291120"/>
            <a:ext cx="1023818" cy="1228606"/>
          </a:xfrm>
          <a:prstGeom prst="rect">
            <a:avLst/>
          </a:prstGeom>
        </p:spPr>
      </p:pic>
      <p:sp>
        <p:nvSpPr>
          <p:cNvPr id="5" name="Text 1"/>
          <p:cNvSpPr/>
          <p:nvPr/>
        </p:nvSpPr>
        <p:spPr>
          <a:xfrm>
            <a:off x="7533918" y="2495788"/>
            <a:ext cx="2409111" cy="300990"/>
          </a:xfrm>
          <a:prstGeom prst="rect">
            <a:avLst/>
          </a:prstGeom>
          <a:noFill/>
          <a:ln/>
        </p:spPr>
        <p:txBody>
          <a:bodyPr wrap="none" lIns="0" tIns="0" rIns="0" bIns="0" rtlCol="0" anchor="t"/>
          <a:lstStyle/>
          <a:p>
            <a:pPr marL="0" indent="0" algn="l">
              <a:lnSpc>
                <a:spcPts val="2350"/>
              </a:lnSpc>
              <a:buNone/>
            </a:pPr>
            <a:r>
              <a:rPr lang="en-US" sz="1850" dirty="0">
                <a:solidFill>
                  <a:srgbClr val="00002E"/>
                </a:solidFill>
                <a:latin typeface="Nunito Semi Bold" pitchFamily="34" charset="0"/>
                <a:ea typeface="Nunito Semi Bold" pitchFamily="34" charset="-122"/>
                <a:cs typeface="Nunito Semi Bold" pitchFamily="34" charset="-120"/>
              </a:rPr>
              <a:t>Object Detection</a:t>
            </a:r>
            <a:endParaRPr lang="en-US" sz="1850" dirty="0"/>
          </a:p>
        </p:txBody>
      </p:sp>
      <p:sp>
        <p:nvSpPr>
          <p:cNvPr id="6" name="Text 2"/>
          <p:cNvSpPr/>
          <p:nvPr/>
        </p:nvSpPr>
        <p:spPr>
          <a:xfrm>
            <a:off x="7533918" y="2919532"/>
            <a:ext cx="6379845" cy="327660"/>
          </a:xfrm>
          <a:prstGeom prst="rect">
            <a:avLst/>
          </a:prstGeom>
          <a:noFill/>
          <a:ln/>
        </p:spPr>
        <p:txBody>
          <a:bodyPr wrap="none" lIns="0" tIns="0" rIns="0" bIns="0" rtlCol="0" anchor="t"/>
          <a:lstStyle/>
          <a:p>
            <a:pPr marL="0" indent="0" algn="l">
              <a:lnSpc>
                <a:spcPts val="2550"/>
              </a:lnSpc>
              <a:buNone/>
            </a:pPr>
            <a:r>
              <a:rPr lang="en-US" sz="1600" dirty="0">
                <a:solidFill>
                  <a:srgbClr val="00002E"/>
                </a:solidFill>
                <a:latin typeface="PT Sans" pitchFamily="34" charset="0"/>
                <a:ea typeface="PT Sans" pitchFamily="34" charset="-122"/>
                <a:cs typeface="PT Sans" pitchFamily="34" charset="-120"/>
              </a:rPr>
              <a:t>Deep convolutional neural network (YOLOv8) for object detection.</a:t>
            </a:r>
            <a:endParaRPr lang="en-US" sz="1600" dirty="0"/>
          </a:p>
        </p:txBody>
      </p:sp>
      <p:pic>
        <p:nvPicPr>
          <p:cNvPr id="7" name="Image 2" descr="preencoded.png"/>
          <p:cNvPicPr>
            <a:picLocks noChangeAspect="1"/>
          </p:cNvPicPr>
          <p:nvPr/>
        </p:nvPicPr>
        <p:blipFill>
          <a:blip r:embed="rId5"/>
          <a:stretch>
            <a:fillRect/>
          </a:stretch>
        </p:blipFill>
        <p:spPr>
          <a:xfrm>
            <a:off x="6203037" y="3519726"/>
            <a:ext cx="1023818" cy="1488400"/>
          </a:xfrm>
          <a:prstGeom prst="rect">
            <a:avLst/>
          </a:prstGeom>
        </p:spPr>
      </p:pic>
      <p:sp>
        <p:nvSpPr>
          <p:cNvPr id="8" name="Text 3"/>
          <p:cNvSpPr/>
          <p:nvPr/>
        </p:nvSpPr>
        <p:spPr>
          <a:xfrm>
            <a:off x="7533918" y="3724394"/>
            <a:ext cx="2474000" cy="300990"/>
          </a:xfrm>
          <a:prstGeom prst="rect">
            <a:avLst/>
          </a:prstGeom>
          <a:noFill/>
          <a:ln/>
        </p:spPr>
        <p:txBody>
          <a:bodyPr wrap="none" lIns="0" tIns="0" rIns="0" bIns="0" rtlCol="0" anchor="t"/>
          <a:lstStyle/>
          <a:p>
            <a:pPr marL="0" indent="0" algn="l">
              <a:lnSpc>
                <a:spcPts val="2350"/>
              </a:lnSpc>
              <a:buNone/>
            </a:pPr>
            <a:r>
              <a:rPr lang="en-US" sz="1850" dirty="0">
                <a:solidFill>
                  <a:srgbClr val="00002E"/>
                </a:solidFill>
                <a:latin typeface="Nunito Semi Bold" pitchFamily="34" charset="0"/>
                <a:ea typeface="Nunito Semi Bold" pitchFamily="34" charset="-122"/>
                <a:cs typeface="Nunito Semi Bold" pitchFamily="34" charset="-120"/>
              </a:rPr>
              <a:t>Dataset Preprocessing</a:t>
            </a:r>
            <a:endParaRPr lang="en-US" sz="1850" dirty="0"/>
          </a:p>
        </p:txBody>
      </p:sp>
      <p:sp>
        <p:nvSpPr>
          <p:cNvPr id="9" name="Text 4"/>
          <p:cNvSpPr/>
          <p:nvPr/>
        </p:nvSpPr>
        <p:spPr>
          <a:xfrm>
            <a:off x="7533918" y="4148138"/>
            <a:ext cx="6379845" cy="655320"/>
          </a:xfrm>
          <a:prstGeom prst="rect">
            <a:avLst/>
          </a:prstGeom>
          <a:noFill/>
          <a:ln/>
        </p:spPr>
        <p:txBody>
          <a:bodyPr wrap="square" lIns="0" tIns="0" rIns="0" bIns="0" rtlCol="0" anchor="t"/>
          <a:lstStyle/>
          <a:p>
            <a:pPr marL="0" indent="0" algn="l">
              <a:lnSpc>
                <a:spcPts val="2550"/>
              </a:lnSpc>
              <a:buNone/>
            </a:pPr>
            <a:r>
              <a:rPr lang="en-US" sz="1600" dirty="0">
                <a:solidFill>
                  <a:srgbClr val="00002E"/>
                </a:solidFill>
                <a:latin typeface="PT Sans" pitchFamily="34" charset="0"/>
                <a:ea typeface="PT Sans" pitchFamily="34" charset="-122"/>
                <a:cs typeface="PT Sans" pitchFamily="34" charset="-120"/>
              </a:rPr>
              <a:t>Preprocessing and annotation of the COB dataset for hygiene-related features.</a:t>
            </a:r>
            <a:endParaRPr lang="en-US" sz="1600" dirty="0"/>
          </a:p>
        </p:txBody>
      </p:sp>
      <p:pic>
        <p:nvPicPr>
          <p:cNvPr id="10" name="Image 3" descr="preencoded.png"/>
          <p:cNvPicPr>
            <a:picLocks noChangeAspect="1"/>
          </p:cNvPicPr>
          <p:nvPr/>
        </p:nvPicPr>
        <p:blipFill>
          <a:blip r:embed="rId6"/>
          <a:stretch>
            <a:fillRect/>
          </a:stretch>
        </p:blipFill>
        <p:spPr>
          <a:xfrm>
            <a:off x="6203037" y="5008126"/>
            <a:ext cx="1023818" cy="1228606"/>
          </a:xfrm>
          <a:prstGeom prst="rect">
            <a:avLst/>
          </a:prstGeom>
        </p:spPr>
      </p:pic>
      <p:sp>
        <p:nvSpPr>
          <p:cNvPr id="11" name="Text 5"/>
          <p:cNvSpPr/>
          <p:nvPr/>
        </p:nvSpPr>
        <p:spPr>
          <a:xfrm>
            <a:off x="7533918" y="5212794"/>
            <a:ext cx="2409111" cy="300990"/>
          </a:xfrm>
          <a:prstGeom prst="rect">
            <a:avLst/>
          </a:prstGeom>
          <a:noFill/>
          <a:ln/>
        </p:spPr>
        <p:txBody>
          <a:bodyPr wrap="none" lIns="0" tIns="0" rIns="0" bIns="0" rtlCol="0" anchor="t"/>
          <a:lstStyle/>
          <a:p>
            <a:pPr marL="0" indent="0" algn="l">
              <a:lnSpc>
                <a:spcPts val="2350"/>
              </a:lnSpc>
              <a:buNone/>
            </a:pPr>
            <a:r>
              <a:rPr lang="en-US" sz="1850" dirty="0">
                <a:solidFill>
                  <a:srgbClr val="00002E"/>
                </a:solidFill>
                <a:latin typeface="Nunito Semi Bold" pitchFamily="34" charset="0"/>
                <a:ea typeface="Nunito Semi Bold" pitchFamily="34" charset="-122"/>
                <a:cs typeface="Nunito Semi Bold" pitchFamily="34" charset="-120"/>
              </a:rPr>
              <a:t>Hygiene Inference</a:t>
            </a:r>
            <a:endParaRPr lang="en-US" sz="1850" dirty="0"/>
          </a:p>
        </p:txBody>
      </p:sp>
      <p:sp>
        <p:nvSpPr>
          <p:cNvPr id="12" name="Text 6"/>
          <p:cNvSpPr/>
          <p:nvPr/>
        </p:nvSpPr>
        <p:spPr>
          <a:xfrm>
            <a:off x="7533918" y="5636538"/>
            <a:ext cx="6379845" cy="327660"/>
          </a:xfrm>
          <a:prstGeom prst="rect">
            <a:avLst/>
          </a:prstGeom>
          <a:noFill/>
          <a:ln/>
        </p:spPr>
        <p:txBody>
          <a:bodyPr wrap="none" lIns="0" tIns="0" rIns="0" bIns="0" rtlCol="0" anchor="t"/>
          <a:lstStyle/>
          <a:p>
            <a:pPr marL="0" indent="0" algn="l">
              <a:lnSpc>
                <a:spcPts val="2550"/>
              </a:lnSpc>
              <a:buNone/>
            </a:pPr>
            <a:r>
              <a:rPr lang="en-US" sz="1600" dirty="0">
                <a:solidFill>
                  <a:srgbClr val="00002E"/>
                </a:solidFill>
                <a:latin typeface="PT Sans" pitchFamily="34" charset="0"/>
                <a:ea typeface="PT Sans" pitchFamily="34" charset="-122"/>
                <a:cs typeface="PT Sans" pitchFamily="34" charset="-120"/>
              </a:rPr>
              <a:t>Hygiene inference module generates cleanliness scores.</a:t>
            </a:r>
            <a:endParaRPr lang="en-US" sz="1600" dirty="0"/>
          </a:p>
        </p:txBody>
      </p:sp>
      <p:sp>
        <p:nvSpPr>
          <p:cNvPr id="13" name="Text 7"/>
          <p:cNvSpPr/>
          <p:nvPr/>
        </p:nvSpPr>
        <p:spPr>
          <a:xfrm>
            <a:off x="6203037" y="6466999"/>
            <a:ext cx="7710726" cy="982980"/>
          </a:xfrm>
          <a:prstGeom prst="rect">
            <a:avLst/>
          </a:prstGeom>
          <a:noFill/>
          <a:ln/>
        </p:spPr>
        <p:txBody>
          <a:bodyPr wrap="square" lIns="0" tIns="0" rIns="0" bIns="0" rtlCol="0" anchor="t"/>
          <a:lstStyle/>
          <a:p>
            <a:pPr marL="0" indent="0" algn="l">
              <a:lnSpc>
                <a:spcPts val="2550"/>
              </a:lnSpc>
              <a:buNone/>
            </a:pPr>
            <a:r>
              <a:rPr lang="en-US" sz="1600" dirty="0">
                <a:solidFill>
                  <a:srgbClr val="00002E"/>
                </a:solidFill>
                <a:latin typeface="PT Sans" pitchFamily="34" charset="0"/>
                <a:ea typeface="PT Sans" pitchFamily="34" charset="-122"/>
                <a:cs typeface="PT Sans" pitchFamily="34" charset="-120"/>
              </a:rPr>
              <a:t>The COB dataset provides RGB images annotated with bounding boxes and object categories. To adapt this dataset for hygiene evaluation, we performed additional annotations on a subset to include visual cleanliness indicators.</a:t>
            </a:r>
            <a:endParaRPr lang="en-US" sz="1600" dirty="0"/>
          </a:p>
        </p:txBody>
      </p:sp>
      <p:pic>
        <p:nvPicPr>
          <p:cNvPr id="14" name="Picture 13">
            <a:extLst>
              <a:ext uri="{FF2B5EF4-FFF2-40B4-BE49-F238E27FC236}">
                <a16:creationId xmlns:a16="http://schemas.microsoft.com/office/drawing/2014/main" id="{48BF7485-7008-DC97-998B-912A2B7ABBD6}"/>
              </a:ext>
            </a:extLst>
          </p:cNvPr>
          <p:cNvPicPr>
            <a:picLocks noChangeAspect="1"/>
          </p:cNvPicPr>
          <p:nvPr/>
        </p:nvPicPr>
        <p:blipFill>
          <a:blip r:embed="rId7"/>
          <a:stretch>
            <a:fillRect/>
          </a:stretch>
        </p:blipFill>
        <p:spPr>
          <a:xfrm>
            <a:off x="12823013" y="7601658"/>
            <a:ext cx="1807387" cy="62794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957"/>
          </a:xfrm>
          <a:prstGeom prst="rect">
            <a:avLst/>
          </a:prstGeom>
        </p:spPr>
      </p:pic>
      <p:sp>
        <p:nvSpPr>
          <p:cNvPr id="3" name="Text 0"/>
          <p:cNvSpPr/>
          <p:nvPr/>
        </p:nvSpPr>
        <p:spPr>
          <a:xfrm>
            <a:off x="6189107" y="552093"/>
            <a:ext cx="7738586" cy="1181100"/>
          </a:xfrm>
          <a:prstGeom prst="rect">
            <a:avLst/>
          </a:prstGeom>
          <a:noFill/>
          <a:ln/>
        </p:spPr>
        <p:txBody>
          <a:bodyPr wrap="square" lIns="0" tIns="0" rIns="0" bIns="0" rtlCol="0" anchor="t"/>
          <a:lstStyle/>
          <a:p>
            <a:pPr marL="0" indent="0" algn="l">
              <a:lnSpc>
                <a:spcPts val="4650"/>
              </a:lnSpc>
              <a:buNone/>
            </a:pPr>
            <a:r>
              <a:rPr lang="en-US" sz="3700" dirty="0">
                <a:solidFill>
                  <a:srgbClr val="00002E"/>
                </a:solidFill>
                <a:latin typeface="Nunito Semi Bold" pitchFamily="34" charset="0"/>
                <a:ea typeface="Nunito Semi Bold" pitchFamily="34" charset="-122"/>
                <a:cs typeface="Nunito Semi Bold" pitchFamily="34" charset="-120"/>
              </a:rPr>
              <a:t>Dataset Preprocessing and Annotation</a:t>
            </a:r>
            <a:endParaRPr lang="en-US" sz="3700" dirty="0"/>
          </a:p>
        </p:txBody>
      </p:sp>
      <p:sp>
        <p:nvSpPr>
          <p:cNvPr id="4" name="Shape 1"/>
          <p:cNvSpPr/>
          <p:nvPr/>
        </p:nvSpPr>
        <p:spPr>
          <a:xfrm>
            <a:off x="6189107" y="2260163"/>
            <a:ext cx="451723" cy="451723"/>
          </a:xfrm>
          <a:prstGeom prst="roundRect">
            <a:avLst>
              <a:gd name="adj" fmla="val 66678"/>
            </a:avLst>
          </a:prstGeom>
          <a:solidFill>
            <a:srgbClr val="F3F3FF"/>
          </a:solidFill>
          <a:ln w="22860">
            <a:solidFill>
              <a:srgbClr val="2D4DF2"/>
            </a:solidFill>
            <a:prstDash val="solid"/>
          </a:ln>
        </p:spPr>
      </p:sp>
      <p:sp>
        <p:nvSpPr>
          <p:cNvPr id="5" name="Text 2"/>
          <p:cNvSpPr/>
          <p:nvPr/>
        </p:nvSpPr>
        <p:spPr>
          <a:xfrm>
            <a:off x="6841569" y="2260163"/>
            <a:ext cx="2527102" cy="295275"/>
          </a:xfrm>
          <a:prstGeom prst="rect">
            <a:avLst/>
          </a:prstGeom>
          <a:noFill/>
          <a:ln/>
        </p:spPr>
        <p:txBody>
          <a:bodyPr wrap="none" lIns="0" tIns="0" rIns="0" bIns="0" rtlCol="0" anchor="t"/>
          <a:lstStyle/>
          <a:p>
            <a:pPr marL="0" indent="0" algn="l">
              <a:lnSpc>
                <a:spcPts val="2300"/>
              </a:lnSpc>
              <a:buNone/>
            </a:pPr>
            <a:r>
              <a:rPr lang="en-US" sz="1850" dirty="0">
                <a:solidFill>
                  <a:srgbClr val="00002E"/>
                </a:solidFill>
                <a:latin typeface="Nunito Semi Bold" pitchFamily="34" charset="0"/>
                <a:ea typeface="Nunito Semi Bold" pitchFamily="34" charset="-122"/>
                <a:cs typeface="Nunito Semi Bold" pitchFamily="34" charset="-120"/>
              </a:rPr>
              <a:t>Overflowing Trash Bins</a:t>
            </a:r>
            <a:endParaRPr lang="en-US" sz="1850" dirty="0"/>
          </a:p>
        </p:txBody>
      </p:sp>
      <p:sp>
        <p:nvSpPr>
          <p:cNvPr id="6" name="Text 3"/>
          <p:cNvSpPr/>
          <p:nvPr/>
        </p:nvSpPr>
        <p:spPr>
          <a:xfrm>
            <a:off x="6841569" y="2675811"/>
            <a:ext cx="7086124" cy="321350"/>
          </a:xfrm>
          <a:prstGeom prst="rect">
            <a:avLst/>
          </a:prstGeom>
          <a:noFill/>
          <a:ln/>
        </p:spPr>
        <p:txBody>
          <a:bodyPr wrap="none" lIns="0" tIns="0" rIns="0" bIns="0" rtlCol="0" anchor="t"/>
          <a:lstStyle/>
          <a:p>
            <a:pPr marL="0" indent="0" algn="l">
              <a:lnSpc>
                <a:spcPts val="2500"/>
              </a:lnSpc>
              <a:buNone/>
            </a:pPr>
            <a:r>
              <a:rPr lang="en-US" sz="1550" dirty="0">
                <a:solidFill>
                  <a:srgbClr val="00002E"/>
                </a:solidFill>
                <a:latin typeface="PT Sans" pitchFamily="34" charset="0"/>
                <a:ea typeface="PT Sans" pitchFamily="34" charset="-122"/>
                <a:cs typeface="PT Sans" pitchFamily="34" charset="-120"/>
              </a:rPr>
              <a:t>Detection of bins exceeding capacity.</a:t>
            </a:r>
            <a:endParaRPr lang="en-US" sz="1550" dirty="0"/>
          </a:p>
        </p:txBody>
      </p:sp>
      <p:sp>
        <p:nvSpPr>
          <p:cNvPr id="7" name="Shape 4"/>
          <p:cNvSpPr/>
          <p:nvPr/>
        </p:nvSpPr>
        <p:spPr>
          <a:xfrm>
            <a:off x="6189107" y="3423761"/>
            <a:ext cx="451723" cy="451723"/>
          </a:xfrm>
          <a:prstGeom prst="roundRect">
            <a:avLst>
              <a:gd name="adj" fmla="val 66678"/>
            </a:avLst>
          </a:prstGeom>
          <a:solidFill>
            <a:srgbClr val="F3F3FF"/>
          </a:solidFill>
          <a:ln w="22860">
            <a:solidFill>
              <a:srgbClr val="018CE1"/>
            </a:solidFill>
            <a:prstDash val="solid"/>
          </a:ln>
        </p:spPr>
      </p:sp>
      <p:sp>
        <p:nvSpPr>
          <p:cNvPr id="8" name="Text 5"/>
          <p:cNvSpPr/>
          <p:nvPr/>
        </p:nvSpPr>
        <p:spPr>
          <a:xfrm>
            <a:off x="6841569" y="3423761"/>
            <a:ext cx="2389465" cy="295275"/>
          </a:xfrm>
          <a:prstGeom prst="rect">
            <a:avLst/>
          </a:prstGeom>
          <a:noFill/>
          <a:ln/>
        </p:spPr>
        <p:txBody>
          <a:bodyPr wrap="none" lIns="0" tIns="0" rIns="0" bIns="0" rtlCol="0" anchor="t"/>
          <a:lstStyle/>
          <a:p>
            <a:pPr marL="0" indent="0" algn="l">
              <a:lnSpc>
                <a:spcPts val="2300"/>
              </a:lnSpc>
              <a:buNone/>
            </a:pPr>
            <a:r>
              <a:rPr lang="en-US" sz="1850" dirty="0">
                <a:solidFill>
                  <a:srgbClr val="00002E"/>
                </a:solidFill>
                <a:latin typeface="Nunito Semi Bold" pitchFamily="34" charset="0"/>
                <a:ea typeface="Nunito Semi Bold" pitchFamily="34" charset="-122"/>
                <a:cs typeface="Nunito Semi Bold" pitchFamily="34" charset="-120"/>
              </a:rPr>
              <a:t>Used Tissues on Floor</a:t>
            </a:r>
            <a:endParaRPr lang="en-US" sz="1850" dirty="0"/>
          </a:p>
        </p:txBody>
      </p:sp>
      <p:sp>
        <p:nvSpPr>
          <p:cNvPr id="9" name="Text 6"/>
          <p:cNvSpPr/>
          <p:nvPr/>
        </p:nvSpPr>
        <p:spPr>
          <a:xfrm>
            <a:off x="6841569" y="3839408"/>
            <a:ext cx="7086124" cy="321350"/>
          </a:xfrm>
          <a:prstGeom prst="rect">
            <a:avLst/>
          </a:prstGeom>
          <a:noFill/>
          <a:ln/>
        </p:spPr>
        <p:txBody>
          <a:bodyPr wrap="none" lIns="0" tIns="0" rIns="0" bIns="0" rtlCol="0" anchor="t"/>
          <a:lstStyle/>
          <a:p>
            <a:pPr marL="0" indent="0" algn="l">
              <a:lnSpc>
                <a:spcPts val="2500"/>
              </a:lnSpc>
              <a:buNone/>
            </a:pPr>
            <a:r>
              <a:rPr lang="en-US" sz="1550" dirty="0">
                <a:solidFill>
                  <a:srgbClr val="00002E"/>
                </a:solidFill>
                <a:latin typeface="PT Sans" pitchFamily="34" charset="0"/>
                <a:ea typeface="PT Sans" pitchFamily="34" charset="-122"/>
                <a:cs typeface="PT Sans" pitchFamily="34" charset="-120"/>
              </a:rPr>
              <a:t>Identification of discarded tissues.</a:t>
            </a:r>
            <a:endParaRPr lang="en-US" sz="1550" dirty="0"/>
          </a:p>
        </p:txBody>
      </p:sp>
      <p:sp>
        <p:nvSpPr>
          <p:cNvPr id="10" name="Shape 7"/>
          <p:cNvSpPr/>
          <p:nvPr/>
        </p:nvSpPr>
        <p:spPr>
          <a:xfrm>
            <a:off x="6189107" y="4587359"/>
            <a:ext cx="451723" cy="451723"/>
          </a:xfrm>
          <a:prstGeom prst="roundRect">
            <a:avLst>
              <a:gd name="adj" fmla="val 66678"/>
            </a:avLst>
          </a:prstGeom>
          <a:solidFill>
            <a:srgbClr val="F3F3FF"/>
          </a:solidFill>
          <a:ln w="22860">
            <a:solidFill>
              <a:srgbClr val="DA33BF"/>
            </a:solidFill>
            <a:prstDash val="solid"/>
          </a:ln>
        </p:spPr>
      </p:sp>
      <p:sp>
        <p:nvSpPr>
          <p:cNvPr id="11" name="Text 8"/>
          <p:cNvSpPr/>
          <p:nvPr/>
        </p:nvSpPr>
        <p:spPr>
          <a:xfrm>
            <a:off x="6841569" y="4587359"/>
            <a:ext cx="2421255" cy="295275"/>
          </a:xfrm>
          <a:prstGeom prst="rect">
            <a:avLst/>
          </a:prstGeom>
          <a:noFill/>
          <a:ln/>
        </p:spPr>
        <p:txBody>
          <a:bodyPr wrap="none" lIns="0" tIns="0" rIns="0" bIns="0" rtlCol="0" anchor="t"/>
          <a:lstStyle/>
          <a:p>
            <a:pPr marL="0" indent="0" algn="l">
              <a:lnSpc>
                <a:spcPts val="2300"/>
              </a:lnSpc>
              <a:buNone/>
            </a:pPr>
            <a:r>
              <a:rPr lang="en-US" sz="1850" dirty="0">
                <a:solidFill>
                  <a:srgbClr val="00002E"/>
                </a:solidFill>
                <a:latin typeface="Nunito Semi Bold" pitchFamily="34" charset="0"/>
                <a:ea typeface="Nunito Semi Bold" pitchFamily="34" charset="-122"/>
                <a:cs typeface="Nunito Semi Bold" pitchFamily="34" charset="-120"/>
              </a:rPr>
              <a:t>Stains on Toilets/Sinks</a:t>
            </a:r>
            <a:endParaRPr lang="en-US" sz="1850" dirty="0"/>
          </a:p>
        </p:txBody>
      </p:sp>
      <p:sp>
        <p:nvSpPr>
          <p:cNvPr id="12" name="Text 9"/>
          <p:cNvSpPr/>
          <p:nvPr/>
        </p:nvSpPr>
        <p:spPr>
          <a:xfrm>
            <a:off x="6841569" y="5003006"/>
            <a:ext cx="7086124" cy="321350"/>
          </a:xfrm>
          <a:prstGeom prst="rect">
            <a:avLst/>
          </a:prstGeom>
          <a:noFill/>
          <a:ln/>
        </p:spPr>
        <p:txBody>
          <a:bodyPr wrap="none" lIns="0" tIns="0" rIns="0" bIns="0" rtlCol="0" anchor="t"/>
          <a:lstStyle/>
          <a:p>
            <a:pPr marL="0" indent="0" algn="l">
              <a:lnSpc>
                <a:spcPts val="2500"/>
              </a:lnSpc>
              <a:buNone/>
            </a:pPr>
            <a:r>
              <a:rPr lang="en-US" sz="1550" dirty="0">
                <a:solidFill>
                  <a:srgbClr val="00002E"/>
                </a:solidFill>
                <a:latin typeface="PT Sans" pitchFamily="34" charset="0"/>
                <a:ea typeface="PT Sans" pitchFamily="34" charset="-122"/>
                <a:cs typeface="PT Sans" pitchFamily="34" charset="-120"/>
              </a:rPr>
              <a:t>Recognition of unsanitary marks.</a:t>
            </a:r>
            <a:endParaRPr lang="en-US" sz="1550" dirty="0"/>
          </a:p>
        </p:txBody>
      </p:sp>
      <p:sp>
        <p:nvSpPr>
          <p:cNvPr id="13" name="Shape 10"/>
          <p:cNvSpPr/>
          <p:nvPr/>
        </p:nvSpPr>
        <p:spPr>
          <a:xfrm>
            <a:off x="6189107" y="5750957"/>
            <a:ext cx="451723" cy="451723"/>
          </a:xfrm>
          <a:prstGeom prst="roundRect">
            <a:avLst>
              <a:gd name="adj" fmla="val 66678"/>
            </a:avLst>
          </a:prstGeom>
          <a:solidFill>
            <a:srgbClr val="F3F3FF"/>
          </a:solidFill>
          <a:ln w="22860">
            <a:solidFill>
              <a:srgbClr val="2D4DF2"/>
            </a:solidFill>
            <a:prstDash val="solid"/>
          </a:ln>
        </p:spPr>
      </p:sp>
      <p:sp>
        <p:nvSpPr>
          <p:cNvPr id="14" name="Text 11"/>
          <p:cNvSpPr/>
          <p:nvPr/>
        </p:nvSpPr>
        <p:spPr>
          <a:xfrm>
            <a:off x="6841569" y="5750957"/>
            <a:ext cx="2362319" cy="295275"/>
          </a:xfrm>
          <a:prstGeom prst="rect">
            <a:avLst/>
          </a:prstGeom>
          <a:noFill/>
          <a:ln/>
        </p:spPr>
        <p:txBody>
          <a:bodyPr wrap="none" lIns="0" tIns="0" rIns="0" bIns="0" rtlCol="0" anchor="t"/>
          <a:lstStyle/>
          <a:p>
            <a:pPr marL="0" indent="0" algn="l">
              <a:lnSpc>
                <a:spcPts val="2300"/>
              </a:lnSpc>
              <a:buNone/>
            </a:pPr>
            <a:r>
              <a:rPr lang="en-US" sz="1850" dirty="0">
                <a:solidFill>
                  <a:srgbClr val="00002E"/>
                </a:solidFill>
                <a:latin typeface="Nunito Semi Bold" pitchFamily="34" charset="0"/>
                <a:ea typeface="Nunito Semi Bold" pitchFamily="34" charset="-122"/>
                <a:cs typeface="Nunito Semi Bold" pitchFamily="34" charset="-120"/>
              </a:rPr>
              <a:t>Empty Paper Holders</a:t>
            </a:r>
            <a:endParaRPr lang="en-US" sz="1850" dirty="0"/>
          </a:p>
        </p:txBody>
      </p:sp>
      <p:sp>
        <p:nvSpPr>
          <p:cNvPr id="15" name="Text 12"/>
          <p:cNvSpPr/>
          <p:nvPr/>
        </p:nvSpPr>
        <p:spPr>
          <a:xfrm>
            <a:off x="6841569" y="6166604"/>
            <a:ext cx="7086124" cy="321350"/>
          </a:xfrm>
          <a:prstGeom prst="rect">
            <a:avLst/>
          </a:prstGeom>
          <a:noFill/>
          <a:ln/>
        </p:spPr>
        <p:txBody>
          <a:bodyPr wrap="none" lIns="0" tIns="0" rIns="0" bIns="0" rtlCol="0" anchor="t"/>
          <a:lstStyle/>
          <a:p>
            <a:pPr marL="0" indent="0" algn="l">
              <a:lnSpc>
                <a:spcPts val="2500"/>
              </a:lnSpc>
              <a:buNone/>
            </a:pPr>
            <a:r>
              <a:rPr lang="en-US" sz="1550" dirty="0">
                <a:solidFill>
                  <a:srgbClr val="00002E"/>
                </a:solidFill>
                <a:latin typeface="PT Sans" pitchFamily="34" charset="0"/>
                <a:ea typeface="PT Sans" pitchFamily="34" charset="-122"/>
                <a:cs typeface="PT Sans" pitchFamily="34" charset="-120"/>
              </a:rPr>
              <a:t>Detection of depleted supply.</a:t>
            </a:r>
            <a:endParaRPr lang="en-US" sz="1550" dirty="0"/>
          </a:p>
        </p:txBody>
      </p:sp>
      <p:sp>
        <p:nvSpPr>
          <p:cNvPr id="16" name="Text 13"/>
          <p:cNvSpPr/>
          <p:nvPr/>
        </p:nvSpPr>
        <p:spPr>
          <a:xfrm>
            <a:off x="6189107" y="6713815"/>
            <a:ext cx="7738586" cy="964049"/>
          </a:xfrm>
          <a:prstGeom prst="rect">
            <a:avLst/>
          </a:prstGeom>
          <a:noFill/>
          <a:ln/>
        </p:spPr>
        <p:txBody>
          <a:bodyPr wrap="square" lIns="0" tIns="0" rIns="0" bIns="0" rtlCol="0" anchor="t"/>
          <a:lstStyle/>
          <a:p>
            <a:pPr marL="0" indent="0" algn="l">
              <a:lnSpc>
                <a:spcPts val="2500"/>
              </a:lnSpc>
              <a:buNone/>
            </a:pPr>
            <a:r>
              <a:rPr lang="en-US" sz="1550" dirty="0">
                <a:solidFill>
                  <a:srgbClr val="00002E"/>
                </a:solidFill>
                <a:latin typeface="PT Sans" pitchFamily="34" charset="0"/>
                <a:ea typeface="PT Sans" pitchFamily="34" charset="-122"/>
                <a:cs typeface="PT Sans" pitchFamily="34" charset="-120"/>
              </a:rPr>
              <a:t>Images were categorized into three hygiene levels: clean, moderately dirty, and very dirty, based on expert review and object combination heuristics. LabelImg was used for additional annotation, and labels were formatted to YOLOv8 requirements.</a:t>
            </a:r>
            <a:endParaRPr lang="en-US" sz="1550" dirty="0"/>
          </a:p>
        </p:txBody>
      </p:sp>
      <p:pic>
        <p:nvPicPr>
          <p:cNvPr id="17" name="Picture 16">
            <a:extLst>
              <a:ext uri="{FF2B5EF4-FFF2-40B4-BE49-F238E27FC236}">
                <a16:creationId xmlns:a16="http://schemas.microsoft.com/office/drawing/2014/main" id="{406B33DF-95C8-03D8-3841-D9663EFF576A}"/>
              </a:ext>
            </a:extLst>
          </p:cNvPr>
          <p:cNvPicPr>
            <a:picLocks noChangeAspect="1"/>
          </p:cNvPicPr>
          <p:nvPr/>
        </p:nvPicPr>
        <p:blipFill>
          <a:blip r:embed="rId4"/>
          <a:stretch>
            <a:fillRect/>
          </a:stretch>
        </p:blipFill>
        <p:spPr>
          <a:xfrm>
            <a:off x="12868507" y="7534745"/>
            <a:ext cx="1761893" cy="62794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31758" y="894517"/>
            <a:ext cx="7196733" cy="614958"/>
          </a:xfrm>
          <a:prstGeom prst="rect">
            <a:avLst/>
          </a:prstGeom>
          <a:noFill/>
          <a:ln/>
        </p:spPr>
        <p:txBody>
          <a:bodyPr wrap="none" lIns="0" tIns="0" rIns="0" bIns="0" rtlCol="0" anchor="t"/>
          <a:lstStyle/>
          <a:p>
            <a:pPr marL="0" indent="0" algn="l">
              <a:lnSpc>
                <a:spcPts val="4800"/>
              </a:lnSpc>
              <a:buNone/>
            </a:pPr>
            <a:r>
              <a:rPr lang="en-US" sz="3850" dirty="0">
                <a:solidFill>
                  <a:srgbClr val="00002E"/>
                </a:solidFill>
                <a:latin typeface="Nunito Semi Bold" pitchFamily="34" charset="0"/>
                <a:ea typeface="Nunito Semi Bold" pitchFamily="34" charset="-122"/>
                <a:cs typeface="Nunito Semi Bold" pitchFamily="34" charset="-120"/>
              </a:rPr>
              <a:t>Experimental Setup and Results</a:t>
            </a:r>
            <a:endParaRPr lang="en-US" sz="3850" dirty="0"/>
          </a:p>
        </p:txBody>
      </p:sp>
      <p:sp>
        <p:nvSpPr>
          <p:cNvPr id="4" name="Text 1"/>
          <p:cNvSpPr/>
          <p:nvPr/>
        </p:nvSpPr>
        <p:spPr>
          <a:xfrm>
            <a:off x="731758" y="1927622"/>
            <a:ext cx="3683437" cy="689967"/>
          </a:xfrm>
          <a:prstGeom prst="rect">
            <a:avLst/>
          </a:prstGeom>
          <a:noFill/>
          <a:ln/>
        </p:spPr>
        <p:txBody>
          <a:bodyPr wrap="none" lIns="0" tIns="0" rIns="0" bIns="0" rtlCol="0" anchor="t"/>
          <a:lstStyle/>
          <a:p>
            <a:pPr marL="0" indent="0" algn="ctr">
              <a:lnSpc>
                <a:spcPts val="5400"/>
              </a:lnSpc>
              <a:buNone/>
            </a:pPr>
            <a:r>
              <a:rPr lang="en-US" sz="5400" dirty="0">
                <a:solidFill>
                  <a:srgbClr val="2D4DF2"/>
                </a:solidFill>
                <a:latin typeface="Nunito Semi Bold" pitchFamily="34" charset="0"/>
                <a:ea typeface="Nunito Semi Bold" pitchFamily="34" charset="-122"/>
                <a:cs typeface="Nunito Semi Bold" pitchFamily="34" charset="-120"/>
              </a:rPr>
              <a:t>0.87</a:t>
            </a:r>
            <a:endParaRPr lang="en-US" sz="5400" dirty="0"/>
          </a:p>
        </p:txBody>
      </p:sp>
      <p:sp>
        <p:nvSpPr>
          <p:cNvPr id="5" name="Text 2"/>
          <p:cNvSpPr/>
          <p:nvPr/>
        </p:nvSpPr>
        <p:spPr>
          <a:xfrm>
            <a:off x="1343501" y="2878931"/>
            <a:ext cx="2459831" cy="307419"/>
          </a:xfrm>
          <a:prstGeom prst="rect">
            <a:avLst/>
          </a:prstGeom>
          <a:noFill/>
          <a:ln/>
        </p:spPr>
        <p:txBody>
          <a:bodyPr wrap="none" lIns="0" tIns="0" rIns="0" bIns="0" rtlCol="0" anchor="t"/>
          <a:lstStyle/>
          <a:p>
            <a:pPr marL="0" indent="0" algn="ctr">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Precision</a:t>
            </a:r>
            <a:endParaRPr lang="en-US" sz="1900" dirty="0"/>
          </a:p>
        </p:txBody>
      </p:sp>
      <p:sp>
        <p:nvSpPr>
          <p:cNvPr id="6" name="Text 3"/>
          <p:cNvSpPr/>
          <p:nvPr/>
        </p:nvSpPr>
        <p:spPr>
          <a:xfrm>
            <a:off x="731758" y="3311723"/>
            <a:ext cx="3683437" cy="334447"/>
          </a:xfrm>
          <a:prstGeom prst="rect">
            <a:avLst/>
          </a:prstGeom>
          <a:noFill/>
          <a:ln/>
        </p:spPr>
        <p:txBody>
          <a:bodyPr wrap="none" lIns="0" tIns="0" rIns="0" bIns="0" rtlCol="0" anchor="t"/>
          <a:lstStyle/>
          <a:p>
            <a:pPr marL="0" indent="0" algn="ctr">
              <a:lnSpc>
                <a:spcPts val="2600"/>
              </a:lnSpc>
              <a:buNone/>
            </a:pPr>
            <a:r>
              <a:rPr lang="en-US" sz="1600" dirty="0">
                <a:solidFill>
                  <a:srgbClr val="00002E"/>
                </a:solidFill>
                <a:latin typeface="PT Sans" pitchFamily="34" charset="0"/>
                <a:ea typeface="PT Sans" pitchFamily="34" charset="-122"/>
                <a:cs typeface="PT Sans" pitchFamily="34" charset="-120"/>
              </a:rPr>
              <a:t>The precision of the YOLOv8 model.</a:t>
            </a:r>
            <a:endParaRPr lang="en-US" sz="1600" dirty="0"/>
          </a:p>
        </p:txBody>
      </p:sp>
      <p:sp>
        <p:nvSpPr>
          <p:cNvPr id="7" name="Text 4"/>
          <p:cNvSpPr/>
          <p:nvPr/>
        </p:nvSpPr>
        <p:spPr>
          <a:xfrm>
            <a:off x="4728805" y="1927622"/>
            <a:ext cx="3683437" cy="689967"/>
          </a:xfrm>
          <a:prstGeom prst="rect">
            <a:avLst/>
          </a:prstGeom>
          <a:noFill/>
          <a:ln/>
        </p:spPr>
        <p:txBody>
          <a:bodyPr wrap="none" lIns="0" tIns="0" rIns="0" bIns="0" rtlCol="0" anchor="t"/>
          <a:lstStyle/>
          <a:p>
            <a:pPr marL="0" indent="0" algn="ctr">
              <a:lnSpc>
                <a:spcPts val="5400"/>
              </a:lnSpc>
              <a:buNone/>
            </a:pPr>
            <a:r>
              <a:rPr lang="en-US" sz="5400" dirty="0">
                <a:solidFill>
                  <a:srgbClr val="018CE1"/>
                </a:solidFill>
                <a:latin typeface="Nunito Semi Bold" pitchFamily="34" charset="0"/>
                <a:ea typeface="Nunito Semi Bold" pitchFamily="34" charset="-122"/>
                <a:cs typeface="Nunito Semi Bold" pitchFamily="34" charset="-120"/>
              </a:rPr>
              <a:t>0.83</a:t>
            </a:r>
            <a:endParaRPr lang="en-US" sz="5400" dirty="0"/>
          </a:p>
        </p:txBody>
      </p:sp>
      <p:sp>
        <p:nvSpPr>
          <p:cNvPr id="8" name="Text 5"/>
          <p:cNvSpPr/>
          <p:nvPr/>
        </p:nvSpPr>
        <p:spPr>
          <a:xfrm>
            <a:off x="5340548" y="2878931"/>
            <a:ext cx="2459831" cy="307419"/>
          </a:xfrm>
          <a:prstGeom prst="rect">
            <a:avLst/>
          </a:prstGeom>
          <a:noFill/>
          <a:ln/>
        </p:spPr>
        <p:txBody>
          <a:bodyPr wrap="none" lIns="0" tIns="0" rIns="0" bIns="0" rtlCol="0" anchor="t"/>
          <a:lstStyle/>
          <a:p>
            <a:pPr marL="0" indent="0" algn="ctr">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Recall</a:t>
            </a:r>
            <a:endParaRPr lang="en-US" sz="1900" dirty="0"/>
          </a:p>
        </p:txBody>
      </p:sp>
      <p:sp>
        <p:nvSpPr>
          <p:cNvPr id="9" name="Text 6"/>
          <p:cNvSpPr/>
          <p:nvPr/>
        </p:nvSpPr>
        <p:spPr>
          <a:xfrm>
            <a:off x="4728805" y="3311723"/>
            <a:ext cx="3683437" cy="334447"/>
          </a:xfrm>
          <a:prstGeom prst="rect">
            <a:avLst/>
          </a:prstGeom>
          <a:noFill/>
          <a:ln/>
        </p:spPr>
        <p:txBody>
          <a:bodyPr wrap="none" lIns="0" tIns="0" rIns="0" bIns="0" rtlCol="0" anchor="t"/>
          <a:lstStyle/>
          <a:p>
            <a:pPr marL="0" indent="0" algn="ctr">
              <a:lnSpc>
                <a:spcPts val="2600"/>
              </a:lnSpc>
              <a:buNone/>
            </a:pPr>
            <a:r>
              <a:rPr lang="en-US" sz="1600" dirty="0">
                <a:solidFill>
                  <a:srgbClr val="00002E"/>
                </a:solidFill>
                <a:latin typeface="PT Sans" pitchFamily="34" charset="0"/>
                <a:ea typeface="PT Sans" pitchFamily="34" charset="-122"/>
                <a:cs typeface="PT Sans" pitchFamily="34" charset="-120"/>
              </a:rPr>
              <a:t>The recall of the YOLOv8 model.</a:t>
            </a:r>
            <a:endParaRPr lang="en-US" sz="1600" dirty="0"/>
          </a:p>
        </p:txBody>
      </p:sp>
      <p:sp>
        <p:nvSpPr>
          <p:cNvPr id="10" name="Text 7"/>
          <p:cNvSpPr/>
          <p:nvPr/>
        </p:nvSpPr>
        <p:spPr>
          <a:xfrm>
            <a:off x="2730222" y="4377928"/>
            <a:ext cx="3683437" cy="689967"/>
          </a:xfrm>
          <a:prstGeom prst="rect">
            <a:avLst/>
          </a:prstGeom>
          <a:noFill/>
          <a:ln/>
        </p:spPr>
        <p:txBody>
          <a:bodyPr wrap="none" lIns="0" tIns="0" rIns="0" bIns="0" rtlCol="0" anchor="t"/>
          <a:lstStyle/>
          <a:p>
            <a:pPr marL="0" indent="0" algn="ctr">
              <a:lnSpc>
                <a:spcPts val="5400"/>
              </a:lnSpc>
              <a:buNone/>
            </a:pPr>
            <a:r>
              <a:rPr lang="en-US" sz="5400" dirty="0">
                <a:solidFill>
                  <a:srgbClr val="DA33BF"/>
                </a:solidFill>
                <a:latin typeface="Nunito Semi Bold" pitchFamily="34" charset="0"/>
                <a:ea typeface="Nunito Semi Bold" pitchFamily="34" charset="-122"/>
                <a:cs typeface="Nunito Semi Bold" pitchFamily="34" charset="-120"/>
              </a:rPr>
              <a:t>0.81</a:t>
            </a:r>
            <a:endParaRPr lang="en-US" sz="5400" dirty="0"/>
          </a:p>
        </p:txBody>
      </p:sp>
      <p:sp>
        <p:nvSpPr>
          <p:cNvPr id="11" name="Text 8"/>
          <p:cNvSpPr/>
          <p:nvPr/>
        </p:nvSpPr>
        <p:spPr>
          <a:xfrm>
            <a:off x="3341965" y="5329238"/>
            <a:ext cx="2459831" cy="307419"/>
          </a:xfrm>
          <a:prstGeom prst="rect">
            <a:avLst/>
          </a:prstGeom>
          <a:noFill/>
          <a:ln/>
        </p:spPr>
        <p:txBody>
          <a:bodyPr wrap="none" lIns="0" tIns="0" rIns="0" bIns="0" rtlCol="0" anchor="t"/>
          <a:lstStyle/>
          <a:p>
            <a:pPr marL="0" indent="0" algn="ctr">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mAP@0.5</a:t>
            </a:r>
            <a:endParaRPr lang="en-US" sz="1900" dirty="0"/>
          </a:p>
        </p:txBody>
      </p:sp>
      <p:sp>
        <p:nvSpPr>
          <p:cNvPr id="12" name="Text 9"/>
          <p:cNvSpPr/>
          <p:nvPr/>
        </p:nvSpPr>
        <p:spPr>
          <a:xfrm>
            <a:off x="2730222" y="5762030"/>
            <a:ext cx="3683437" cy="334447"/>
          </a:xfrm>
          <a:prstGeom prst="rect">
            <a:avLst/>
          </a:prstGeom>
          <a:noFill/>
          <a:ln/>
        </p:spPr>
        <p:txBody>
          <a:bodyPr wrap="none" lIns="0" tIns="0" rIns="0" bIns="0" rtlCol="0" anchor="t"/>
          <a:lstStyle/>
          <a:p>
            <a:pPr marL="0" indent="0" algn="ctr">
              <a:lnSpc>
                <a:spcPts val="2600"/>
              </a:lnSpc>
              <a:buNone/>
            </a:pPr>
            <a:r>
              <a:rPr lang="en-US" sz="1600" dirty="0">
                <a:solidFill>
                  <a:srgbClr val="00002E"/>
                </a:solidFill>
                <a:latin typeface="PT Sans" pitchFamily="34" charset="0"/>
                <a:ea typeface="PT Sans" pitchFamily="34" charset="-122"/>
                <a:cs typeface="PT Sans" pitchFamily="34" charset="-120"/>
              </a:rPr>
              <a:t>The mAP@0.5 of the YOLOv8 model.</a:t>
            </a:r>
            <a:endParaRPr lang="en-US" sz="1600" dirty="0"/>
          </a:p>
        </p:txBody>
      </p:sp>
      <p:sp>
        <p:nvSpPr>
          <p:cNvPr id="13" name="Text 10"/>
          <p:cNvSpPr/>
          <p:nvPr/>
        </p:nvSpPr>
        <p:spPr>
          <a:xfrm>
            <a:off x="731758" y="6331625"/>
            <a:ext cx="7680484" cy="1003340"/>
          </a:xfrm>
          <a:prstGeom prst="rect">
            <a:avLst/>
          </a:prstGeom>
          <a:noFill/>
          <a:ln/>
        </p:spPr>
        <p:txBody>
          <a:bodyPr wrap="squar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The YOLOv8n model was trained on the augmented COB dataset. Real-time inference was tested on an NVIDIA Jetson Nano. While YOLOv8n achieved only 12 FPS, it was sufficient for low-frequency monitoring.</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776651"/>
            <a:ext cx="12160448" cy="704017"/>
          </a:xfrm>
          <a:prstGeom prst="rect">
            <a:avLst/>
          </a:prstGeom>
          <a:noFill/>
          <a:ln/>
        </p:spPr>
        <p:txBody>
          <a:bodyPr wrap="none" lIns="0" tIns="0" rIns="0" bIns="0" rtlCol="0" anchor="t"/>
          <a:lstStyle/>
          <a:p>
            <a:pPr marL="0" indent="0" algn="l">
              <a:lnSpc>
                <a:spcPts val="5500"/>
              </a:lnSpc>
              <a:buNone/>
            </a:pPr>
            <a:r>
              <a:rPr lang="en-US" sz="4400" dirty="0">
                <a:solidFill>
                  <a:srgbClr val="00002E"/>
                </a:solidFill>
                <a:latin typeface="Nunito Semi Bold" pitchFamily="34" charset="0"/>
                <a:ea typeface="Nunito Semi Bold" pitchFamily="34" charset="-122"/>
                <a:cs typeface="Nunito Semi Bold" pitchFamily="34" charset="-120"/>
              </a:rPr>
              <a:t>Discussion: System Robustness and Limitations</a:t>
            </a:r>
            <a:endParaRPr lang="en-US" sz="4400" dirty="0"/>
          </a:p>
        </p:txBody>
      </p:sp>
      <p:sp>
        <p:nvSpPr>
          <p:cNvPr id="3" name="Text 1"/>
          <p:cNvSpPr/>
          <p:nvPr/>
        </p:nvSpPr>
        <p:spPr>
          <a:xfrm>
            <a:off x="837724" y="3078956"/>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System Robustness</a:t>
            </a:r>
            <a:endParaRPr lang="en-US" sz="2200" dirty="0"/>
          </a:p>
        </p:txBody>
      </p:sp>
      <p:sp>
        <p:nvSpPr>
          <p:cNvPr id="4" name="Text 2"/>
          <p:cNvSpPr/>
          <p:nvPr/>
        </p:nvSpPr>
        <p:spPr>
          <a:xfrm>
            <a:off x="837724" y="3670221"/>
            <a:ext cx="6185535" cy="1149072"/>
          </a:xfrm>
          <a:prstGeom prst="rect">
            <a:avLst/>
          </a:prstGeom>
          <a:noFill/>
          <a:ln/>
        </p:spPr>
        <p:txBody>
          <a:bodyPr wrap="squar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The model generalizes well across various restroom layouts and lighting conditions. Performance degrades slightly in occluded scenes or when object visibility is low.</a:t>
            </a:r>
            <a:endParaRPr lang="en-US" sz="1850" dirty="0"/>
          </a:p>
        </p:txBody>
      </p:sp>
      <p:sp>
        <p:nvSpPr>
          <p:cNvPr id="5" name="Text 3"/>
          <p:cNvSpPr/>
          <p:nvPr/>
        </p:nvSpPr>
        <p:spPr>
          <a:xfrm>
            <a:off x="7614761" y="3078956"/>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Dataset Limitations</a:t>
            </a:r>
            <a:endParaRPr lang="en-US" sz="2200" dirty="0"/>
          </a:p>
        </p:txBody>
      </p:sp>
      <p:sp>
        <p:nvSpPr>
          <p:cNvPr id="6" name="Text 4"/>
          <p:cNvSpPr/>
          <p:nvPr/>
        </p:nvSpPr>
        <p:spPr>
          <a:xfrm>
            <a:off x="7614761" y="3670221"/>
            <a:ext cx="6185535" cy="1149072"/>
          </a:xfrm>
          <a:prstGeom prst="rect">
            <a:avLst/>
          </a:prstGeom>
          <a:noFill/>
          <a:ln/>
        </p:spPr>
        <p:txBody>
          <a:bodyPr wrap="squar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The COB dataset lacks temporal continuity and explicit cleanliness labels in its original form. The dataset is primarily based on domestic-style restrooms.</a:t>
            </a:r>
            <a:endParaRPr lang="en-US" sz="1850" dirty="0"/>
          </a:p>
        </p:txBody>
      </p:sp>
      <p:sp>
        <p:nvSpPr>
          <p:cNvPr id="7" name="Text 5"/>
          <p:cNvSpPr/>
          <p:nvPr/>
        </p:nvSpPr>
        <p:spPr>
          <a:xfrm>
            <a:off x="837724" y="5303877"/>
            <a:ext cx="12954952" cy="1149072"/>
          </a:xfrm>
          <a:prstGeom prst="rect">
            <a:avLst/>
          </a:prstGeom>
          <a:noFill/>
          <a:ln/>
        </p:spPr>
        <p:txBody>
          <a:bodyPr wrap="squar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Deploying vision systems in restrooms introduces significant privacy concerns. Our proposed system focuses on ceiling-mounted, object-focused cameras that avoid direct human subject detection. Edge processing ensures data is not transmitted externally unless hygiene thresholds are breached.</a:t>
            </a:r>
            <a:endParaRPr lang="en-US" sz="1850" dirty="0"/>
          </a:p>
        </p:txBody>
      </p:sp>
      <p:pic>
        <p:nvPicPr>
          <p:cNvPr id="8" name="Picture 7">
            <a:extLst>
              <a:ext uri="{FF2B5EF4-FFF2-40B4-BE49-F238E27FC236}">
                <a16:creationId xmlns:a16="http://schemas.microsoft.com/office/drawing/2014/main" id="{CC7E7D2B-D62A-1FF8-5BFD-A726C1A4C488}"/>
              </a:ext>
            </a:extLst>
          </p:cNvPr>
          <p:cNvPicPr>
            <a:picLocks noChangeAspect="1"/>
          </p:cNvPicPr>
          <p:nvPr/>
        </p:nvPicPr>
        <p:blipFill>
          <a:blip r:embed="rId3"/>
          <a:stretch>
            <a:fillRect/>
          </a:stretch>
        </p:blipFill>
        <p:spPr>
          <a:xfrm>
            <a:off x="12767257" y="7601658"/>
            <a:ext cx="1863143" cy="62794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60333" y="1119307"/>
            <a:ext cx="6612136" cy="638889"/>
          </a:xfrm>
          <a:prstGeom prst="rect">
            <a:avLst/>
          </a:prstGeom>
          <a:noFill/>
          <a:ln/>
        </p:spPr>
        <p:txBody>
          <a:bodyPr wrap="none" lIns="0" tIns="0" rIns="0" bIns="0" rtlCol="0" anchor="t"/>
          <a:lstStyle/>
          <a:p>
            <a:pPr marL="0" indent="0" algn="l">
              <a:lnSpc>
                <a:spcPts val="5000"/>
              </a:lnSpc>
              <a:buNone/>
            </a:pPr>
            <a:r>
              <a:rPr lang="en-US" sz="4000" dirty="0">
                <a:solidFill>
                  <a:srgbClr val="00002E"/>
                </a:solidFill>
                <a:latin typeface="Nunito Semi Bold" pitchFamily="34" charset="0"/>
                <a:ea typeface="Nunito Semi Bold" pitchFamily="34" charset="-122"/>
                <a:cs typeface="Nunito Semi Bold" pitchFamily="34" charset="-120"/>
              </a:rPr>
              <a:t>Conclusion and Future Work</a:t>
            </a:r>
            <a:endParaRPr lang="en-US" sz="4000" dirty="0"/>
          </a:p>
        </p:txBody>
      </p:sp>
      <p:sp>
        <p:nvSpPr>
          <p:cNvPr id="4" name="Shape 1"/>
          <p:cNvSpPr/>
          <p:nvPr/>
        </p:nvSpPr>
        <p:spPr>
          <a:xfrm>
            <a:off x="760333" y="2084070"/>
            <a:ext cx="162878" cy="797362"/>
          </a:xfrm>
          <a:prstGeom prst="roundRect">
            <a:avLst>
              <a:gd name="adj" fmla="val 200076"/>
            </a:avLst>
          </a:prstGeom>
          <a:solidFill>
            <a:srgbClr val="F3F3FF"/>
          </a:solidFill>
          <a:ln w="22860">
            <a:solidFill>
              <a:srgbClr val="2D4DF2"/>
            </a:solidFill>
            <a:prstDash val="solid"/>
          </a:ln>
        </p:spPr>
      </p:sp>
      <p:sp>
        <p:nvSpPr>
          <p:cNvPr id="5" name="Text 2"/>
          <p:cNvSpPr/>
          <p:nvPr/>
        </p:nvSpPr>
        <p:spPr>
          <a:xfrm>
            <a:off x="1249085" y="2084070"/>
            <a:ext cx="2555915" cy="319445"/>
          </a:xfrm>
          <a:prstGeom prst="rect">
            <a:avLst/>
          </a:prstGeom>
          <a:noFill/>
          <a:ln/>
        </p:spPr>
        <p:txBody>
          <a:bodyPr wrap="none" lIns="0" tIns="0" rIns="0" bIns="0" rtlCol="0" anchor="t"/>
          <a:lstStyle/>
          <a:p>
            <a:pPr marL="0" indent="0" algn="l">
              <a:lnSpc>
                <a:spcPts val="2500"/>
              </a:lnSpc>
              <a:buNone/>
            </a:pPr>
            <a:r>
              <a:rPr lang="en-US" sz="2000" dirty="0">
                <a:solidFill>
                  <a:srgbClr val="00002E"/>
                </a:solidFill>
                <a:latin typeface="Nunito Semi Bold" pitchFamily="34" charset="0"/>
                <a:ea typeface="Nunito Semi Bold" pitchFamily="34" charset="-122"/>
                <a:cs typeface="Nunito Semi Bold" pitchFamily="34" charset="-120"/>
              </a:rPr>
              <a:t>Temporal Modeling</a:t>
            </a:r>
            <a:endParaRPr lang="en-US" sz="2000" dirty="0"/>
          </a:p>
        </p:txBody>
      </p:sp>
      <p:sp>
        <p:nvSpPr>
          <p:cNvPr id="6" name="Text 3"/>
          <p:cNvSpPr/>
          <p:nvPr/>
        </p:nvSpPr>
        <p:spPr>
          <a:xfrm>
            <a:off x="1249085" y="2533769"/>
            <a:ext cx="7134582" cy="347663"/>
          </a:xfrm>
          <a:prstGeom prst="rect">
            <a:avLst/>
          </a:prstGeom>
          <a:noFill/>
          <a:ln/>
        </p:spPr>
        <p:txBody>
          <a:bodyPr wrap="none" lIns="0" tIns="0" rIns="0" bIns="0" rtlCol="0" anchor="t"/>
          <a:lstStyle/>
          <a:p>
            <a:pPr marL="0" indent="0" algn="l">
              <a:lnSpc>
                <a:spcPts val="2700"/>
              </a:lnSpc>
              <a:buNone/>
            </a:pPr>
            <a:r>
              <a:rPr lang="en-US" sz="1700" dirty="0">
                <a:solidFill>
                  <a:srgbClr val="00002E"/>
                </a:solidFill>
                <a:latin typeface="PT Sans" pitchFamily="34" charset="0"/>
                <a:ea typeface="PT Sans" pitchFamily="34" charset="-122"/>
                <a:cs typeface="PT Sans" pitchFamily="34" charset="-120"/>
              </a:rPr>
              <a:t>Introduce time-series tracking to detect prolonged cleanliness issues.</a:t>
            </a:r>
            <a:endParaRPr lang="en-US" sz="1700" dirty="0"/>
          </a:p>
        </p:txBody>
      </p:sp>
      <p:sp>
        <p:nvSpPr>
          <p:cNvPr id="7" name="Shape 4"/>
          <p:cNvSpPr/>
          <p:nvPr/>
        </p:nvSpPr>
        <p:spPr>
          <a:xfrm>
            <a:off x="1086207" y="3098602"/>
            <a:ext cx="162878" cy="1145024"/>
          </a:xfrm>
          <a:prstGeom prst="roundRect">
            <a:avLst>
              <a:gd name="adj" fmla="val 200076"/>
            </a:avLst>
          </a:prstGeom>
          <a:solidFill>
            <a:srgbClr val="F3F3FF"/>
          </a:solidFill>
          <a:ln w="22860">
            <a:solidFill>
              <a:srgbClr val="018CE1"/>
            </a:solidFill>
            <a:prstDash val="solid"/>
          </a:ln>
        </p:spPr>
      </p:sp>
      <p:sp>
        <p:nvSpPr>
          <p:cNvPr id="8" name="Text 5"/>
          <p:cNvSpPr/>
          <p:nvPr/>
        </p:nvSpPr>
        <p:spPr>
          <a:xfrm>
            <a:off x="1574959" y="3098602"/>
            <a:ext cx="2555915" cy="319445"/>
          </a:xfrm>
          <a:prstGeom prst="rect">
            <a:avLst/>
          </a:prstGeom>
          <a:noFill/>
          <a:ln/>
        </p:spPr>
        <p:txBody>
          <a:bodyPr wrap="none" lIns="0" tIns="0" rIns="0" bIns="0" rtlCol="0" anchor="t"/>
          <a:lstStyle/>
          <a:p>
            <a:pPr marL="0" indent="0" algn="l">
              <a:lnSpc>
                <a:spcPts val="2500"/>
              </a:lnSpc>
              <a:buNone/>
            </a:pPr>
            <a:r>
              <a:rPr lang="en-US" sz="2000" dirty="0">
                <a:solidFill>
                  <a:srgbClr val="00002E"/>
                </a:solidFill>
                <a:latin typeface="Nunito Semi Bold" pitchFamily="34" charset="0"/>
                <a:ea typeface="Nunito Semi Bold" pitchFamily="34" charset="-122"/>
                <a:cs typeface="Nunito Semi Bold" pitchFamily="34" charset="-120"/>
              </a:rPr>
              <a:t>Dataset Expansion</a:t>
            </a:r>
            <a:endParaRPr lang="en-US" sz="2000" dirty="0"/>
          </a:p>
        </p:txBody>
      </p:sp>
      <p:sp>
        <p:nvSpPr>
          <p:cNvPr id="9" name="Text 6"/>
          <p:cNvSpPr/>
          <p:nvPr/>
        </p:nvSpPr>
        <p:spPr>
          <a:xfrm>
            <a:off x="1574959" y="3548301"/>
            <a:ext cx="6808708" cy="695325"/>
          </a:xfrm>
          <a:prstGeom prst="rect">
            <a:avLst/>
          </a:prstGeom>
          <a:noFill/>
          <a:ln/>
        </p:spPr>
        <p:txBody>
          <a:bodyPr wrap="square" lIns="0" tIns="0" rIns="0" bIns="0" rtlCol="0" anchor="t"/>
          <a:lstStyle/>
          <a:p>
            <a:pPr marL="0" indent="0" algn="l">
              <a:lnSpc>
                <a:spcPts val="2700"/>
              </a:lnSpc>
              <a:buNone/>
            </a:pPr>
            <a:r>
              <a:rPr lang="en-US" sz="1700" dirty="0">
                <a:solidFill>
                  <a:srgbClr val="00002E"/>
                </a:solidFill>
                <a:latin typeface="PT Sans" pitchFamily="34" charset="0"/>
                <a:ea typeface="PT Sans" pitchFamily="34" charset="-122"/>
                <a:cs typeface="PT Sans" pitchFamily="34" charset="-120"/>
              </a:rPr>
              <a:t>Curate a large-scale hygiene-specific dataset with diverse public restroom environments.</a:t>
            </a:r>
            <a:endParaRPr lang="en-US" sz="1700" dirty="0"/>
          </a:p>
        </p:txBody>
      </p:sp>
      <p:sp>
        <p:nvSpPr>
          <p:cNvPr id="10" name="Shape 7"/>
          <p:cNvSpPr/>
          <p:nvPr/>
        </p:nvSpPr>
        <p:spPr>
          <a:xfrm>
            <a:off x="1412081" y="4460796"/>
            <a:ext cx="162878" cy="797362"/>
          </a:xfrm>
          <a:prstGeom prst="roundRect">
            <a:avLst>
              <a:gd name="adj" fmla="val 200076"/>
            </a:avLst>
          </a:prstGeom>
          <a:solidFill>
            <a:srgbClr val="F3F3FF"/>
          </a:solidFill>
          <a:ln w="22860">
            <a:solidFill>
              <a:srgbClr val="DA33BF"/>
            </a:solidFill>
            <a:prstDash val="solid"/>
          </a:ln>
        </p:spPr>
      </p:sp>
      <p:sp>
        <p:nvSpPr>
          <p:cNvPr id="11" name="Text 8"/>
          <p:cNvSpPr/>
          <p:nvPr/>
        </p:nvSpPr>
        <p:spPr>
          <a:xfrm>
            <a:off x="1900833" y="4460796"/>
            <a:ext cx="2555915" cy="319445"/>
          </a:xfrm>
          <a:prstGeom prst="rect">
            <a:avLst/>
          </a:prstGeom>
          <a:noFill/>
          <a:ln/>
        </p:spPr>
        <p:txBody>
          <a:bodyPr wrap="none" lIns="0" tIns="0" rIns="0" bIns="0" rtlCol="0" anchor="t"/>
          <a:lstStyle/>
          <a:p>
            <a:pPr marL="0" indent="0" algn="l">
              <a:lnSpc>
                <a:spcPts val="2500"/>
              </a:lnSpc>
              <a:buNone/>
            </a:pPr>
            <a:r>
              <a:rPr lang="en-US" sz="2000" dirty="0">
                <a:solidFill>
                  <a:srgbClr val="00002E"/>
                </a:solidFill>
                <a:latin typeface="Nunito Semi Bold" pitchFamily="34" charset="0"/>
                <a:ea typeface="Nunito Semi Bold" pitchFamily="34" charset="-122"/>
                <a:cs typeface="Nunito Semi Bold" pitchFamily="34" charset="-120"/>
              </a:rPr>
              <a:t>Multimodal Fusion</a:t>
            </a:r>
            <a:endParaRPr lang="en-US" sz="2000" dirty="0"/>
          </a:p>
        </p:txBody>
      </p:sp>
      <p:sp>
        <p:nvSpPr>
          <p:cNvPr id="12" name="Text 9"/>
          <p:cNvSpPr/>
          <p:nvPr/>
        </p:nvSpPr>
        <p:spPr>
          <a:xfrm>
            <a:off x="1900833" y="4910495"/>
            <a:ext cx="6482834" cy="347663"/>
          </a:xfrm>
          <a:prstGeom prst="rect">
            <a:avLst/>
          </a:prstGeom>
          <a:noFill/>
          <a:ln/>
        </p:spPr>
        <p:txBody>
          <a:bodyPr wrap="none" lIns="0" tIns="0" rIns="0" bIns="0" rtlCol="0" anchor="t"/>
          <a:lstStyle/>
          <a:p>
            <a:pPr marL="0" indent="0" algn="l">
              <a:lnSpc>
                <a:spcPts val="2700"/>
              </a:lnSpc>
              <a:buNone/>
            </a:pPr>
            <a:r>
              <a:rPr lang="en-US" sz="1700" dirty="0">
                <a:solidFill>
                  <a:srgbClr val="00002E"/>
                </a:solidFill>
                <a:latin typeface="PT Sans" pitchFamily="34" charset="0"/>
                <a:ea typeface="PT Sans" pitchFamily="34" charset="-122"/>
                <a:cs typeface="PT Sans" pitchFamily="34" charset="-120"/>
              </a:rPr>
              <a:t>Combine vision data with IoT sensors for robust hygiene assessments.</a:t>
            </a:r>
            <a:endParaRPr lang="en-US" sz="1700" dirty="0"/>
          </a:p>
        </p:txBody>
      </p:sp>
      <p:sp>
        <p:nvSpPr>
          <p:cNvPr id="13" name="Text 10"/>
          <p:cNvSpPr/>
          <p:nvPr/>
        </p:nvSpPr>
        <p:spPr>
          <a:xfrm>
            <a:off x="760333" y="5719643"/>
            <a:ext cx="7623334" cy="1390650"/>
          </a:xfrm>
          <a:prstGeom prst="rect">
            <a:avLst/>
          </a:prstGeom>
          <a:noFill/>
          <a:ln/>
        </p:spPr>
        <p:txBody>
          <a:bodyPr wrap="square" lIns="0" tIns="0" rIns="0" bIns="0" rtlCol="0" anchor="t"/>
          <a:lstStyle/>
          <a:p>
            <a:pPr marL="0" indent="0" algn="l">
              <a:lnSpc>
                <a:spcPts val="2700"/>
              </a:lnSpc>
              <a:buNone/>
            </a:pPr>
            <a:r>
              <a:rPr lang="en-US" sz="1700" dirty="0">
                <a:solidFill>
                  <a:srgbClr val="00002E"/>
                </a:solidFill>
                <a:latin typeface="PT Sans" pitchFamily="34" charset="0"/>
                <a:ea typeface="PT Sans" pitchFamily="34" charset="-122"/>
                <a:cs typeface="PT Sans" pitchFamily="34" charset="-120"/>
              </a:rPr>
              <a:t>This paper presented a deep learning-powered computer vision system for monitoring public hygiene in restrooms using the Common Objects in Bathroom (COB) dataset. By advancing vision-based hygiene monitoring, this research contributes to smarter, safer, and more responsive urban public spaces.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713</Words>
  <Application>Microsoft Office PowerPoint</Application>
  <PresentationFormat>Custom</PresentationFormat>
  <Paragraphs>68</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PT Sans</vt:lpstr>
      <vt:lpstr>Nunito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Jheelam Hossain</cp:lastModifiedBy>
  <cp:revision>2</cp:revision>
  <dcterms:created xsi:type="dcterms:W3CDTF">2025-04-19T17:31:06Z</dcterms:created>
  <dcterms:modified xsi:type="dcterms:W3CDTF">2025-04-24T16:20:48Z</dcterms:modified>
</cp:coreProperties>
</file>